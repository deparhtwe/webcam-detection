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635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101600" cy="22860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49E3FF"/>
                </a:solidFill>
                <a:latin typeface="Courier New"/>
              </a:defRPr>
            </a:pPr>
            <a:r>
              <a:t>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F7FF"/>
                </a:solidFill>
                <a:latin typeface="Segoe UI"/>
              </a:defRPr>
            </a:pPr>
            <a:r>
              <a:t>Real-Time Weapon &amp; Violence</a:t>
            </a:r>
            <a:br/>
            <a:r>
              <a:t>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A0C5"/>
                </a:solidFill>
                <a:latin typeface="Courier New"/>
              </a:defRPr>
            </a:pPr>
            <a:r>
              <a:t>Using YOLOv8 Deep Learning on IP Webcam Streams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D7D"/>
                </a:solidFill>
                <a:latin typeface="Segoe UI"/>
              </a:defRPr>
            </a:pPr>
            <a:r>
              <a:t>Final Year Seminar  |  Computer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DA0C5"/>
                </a:solidFill>
                <a:latin typeface="Segoe UI"/>
              </a:defRPr>
            </a:pPr>
            <a:r>
              <a:t>Department of Computer Science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828800"/>
            <a:ext cx="1828800" cy="1828800"/>
          </a:xfrm>
          <a:prstGeom prst="rect">
            <a:avLst/>
          </a:prstGeom>
          <a:solidFill>
            <a:srgbClr val="0A1224"/>
          </a:solidFill>
          <a:ln w="25400">
            <a:solidFill>
              <a:srgbClr val="49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9E3FF"/>
                </a:solidFill>
                <a:latin typeface="Courier New"/>
              </a:defRPr>
            </a:pPr>
            <a:r>
              <a:t>YOLOv8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Weapon +</a:t>
            </a:r>
            <a:br/>
            <a:r>
              <a:t>Fight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4114800"/>
            <a:ext cx="1828800" cy="1097280"/>
          </a:xfrm>
          <a:prstGeom prst="rect">
            <a:avLst/>
          </a:prstGeom>
          <a:solidFill>
            <a:srgbClr val="0A1224"/>
          </a:solidFill>
          <a:ln w="25400">
            <a:solidFill>
              <a:srgbClr val="FF4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4251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7D"/>
                </a:solidFill>
                <a:latin typeface="Courier New"/>
              </a:defRPr>
            </a:pPr>
            <a:r>
              <a:t>IP Webcam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Live Stream</a:t>
            </a:r>
            <a:br/>
            <a:r>
              <a:t>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Project Overview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Segoe UI"/>
              </a:defRPr>
            </a:pPr>
            <a:r>
              <a:t>AEGIS is a real-time weapon and violence detection system that leverages deep learning to identify threats from live IP webcam video feeds.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Segoe UI"/>
              </a:defRPr>
            </a:pPr>
            <a:r>
              <a:t>The system employs two custom-trained YOLOv8 object detection models: one for weapon detection (Grenade, Knife, Missile, Pistol, Rifle) and another for fight/violence detection.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Segoe UI"/>
              </a:defRPr>
            </a:pPr>
            <a:r>
              <a:t>An Android smartphone running the IP Webcam app serves as a low-cost, network-accessible camera source, streaming video over Wi-Fi to the detection server.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Segoe UI"/>
              </a:defRPr>
            </a:pPr>
            <a:r>
              <a:t>The Tkinter-based dashboard provides a dual-panel interface with a live stream view and an incident history log, enabling security operators to monitor and manage threats in real-time.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Segoe UI"/>
              </a:defRPr>
            </a:pPr>
            <a:r>
              <a:t>Detection events trigger visual bounding-box overlays, audible alerts, and persistent JSON-based storage of incident metadata and snapshots for forensic review.</a:t>
            </a:r>
          </a:p>
          <a:p>
            <a:pPr>
              <a:spcAft>
                <a:spcPts val="1400"/>
              </a:spcAft>
              <a:defRPr sz="1600">
                <a:solidFill>
                  <a:srgbClr val="F4F7FF"/>
                </a:solidFill>
                <a:latin typeface="Segoe UI"/>
              </a:defRPr>
            </a:pPr>
            <a:r>
              <a:t>The system achieves configurable confidence thresholds (default 50%) and supports real-time parameter tuning without restarting the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Background &amp;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9E3FF"/>
                </a:solidFill>
                <a:latin typeface="Courier New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Public safety threats require automated surveillance solutions.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Manual monitoring of CCTV feeds is error-prone and fatiguing.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Traditional security systems lack real-time intelligent threat analysis.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Affordable detection systems are needed for schools, offices, and public spaces.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D7D"/>
                </a:solidFill>
                <a:latin typeface="Courier New"/>
              </a:defRPr>
            </a:pPr>
            <a: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AI-powered detection using custom-trained YOLOv8 models.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Dual detection: weapons AND physical violence/fighting.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Low-cost hardware: uses any Android phone as camera.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Integrated dashboard with live monitoring and incident management.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Open-source Python stack — no expensive proprietary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25400" cy="347472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What We Set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474720" cy="18288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63500" cy="1828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9E3FF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F7FF"/>
                </a:solidFill>
                <a:latin typeface="Segoe UI"/>
              </a:defRPr>
            </a:pPr>
            <a:r>
              <a:t>Real-Time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Process live video frames from an IP webcam with minimal latency using YOLOv8 inference.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3474720" cy="18288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63500" cy="18288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D7D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F7FF"/>
                </a:solidFill>
                <a:latin typeface="Segoe UI"/>
              </a:defRPr>
            </a:pPr>
            <a:r>
              <a:t>Multi-Threat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971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Detect both weapons (knife, pistol, rifle, grenade, missile) and physical fights in the same pipeline.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2103120"/>
            <a:ext cx="3474720" cy="18288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2103120"/>
            <a:ext cx="63500" cy="1828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9E3FF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F7FF"/>
                </a:solidFill>
                <a:latin typeface="Segoe UI"/>
              </a:defRPr>
            </a:pPr>
            <a:r>
              <a:t>Low-Cost Camera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9718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Replace expensive CCTV hardware with an Android phone running the IP Webcam app over Wi-Fi.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97679"/>
            <a:ext cx="3474720" cy="18288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97679"/>
            <a:ext cx="63500" cy="18288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34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D7D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005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F7FF"/>
                </a:solidFill>
                <a:latin typeface="Segoe UI"/>
              </a:defRPr>
            </a:pPr>
            <a:r>
              <a:t>Interactive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16635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Provide operators with a Tkinter GUI showing live stream, detection overlays, confidence controls, and incident history.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297679"/>
            <a:ext cx="3474720" cy="18288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297679"/>
            <a:ext cx="63500" cy="1828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434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9E3FF"/>
                </a:solidFill>
                <a:latin typeface="Courier New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8005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F7FF"/>
                </a:solidFill>
                <a:latin typeface="Segoe UI"/>
              </a:defRPr>
            </a:pPr>
            <a:r>
              <a:t>Incident Logging &amp; Retrieval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16635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Persist detection events as JSON metadata with snapshot images for post-incident forensic analysis.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59" y="4297679"/>
            <a:ext cx="3474720" cy="18288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59" y="4297679"/>
            <a:ext cx="63500" cy="18288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59" y="4434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D7D"/>
                </a:solidFill>
                <a:latin typeface="Courier New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48005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F7FF"/>
                </a:solidFill>
                <a:latin typeface="Segoe UI"/>
              </a:defRPr>
            </a:pPr>
            <a:r>
              <a:t>Configurable Sensitivity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516635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Allow runtime adjustment of confidence thresholds and detection parameters without application restart.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System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Advantages &amp;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D38F"/>
                </a:solidFill>
                <a:latin typeface="Segoe UI"/>
              </a:defRPr>
            </a:pPr>
            <a:r>
              <a:t>Cost-Effective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A0C5"/>
                </a:solidFill>
                <a:latin typeface="Segoe UI"/>
              </a:defRPr>
            </a:pPr>
            <a:r>
              <a:t>Uses a smartphone as camera instead of expensive CCTV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D38F"/>
                </a:solidFill>
                <a:latin typeface="Segoe UI"/>
              </a:defRPr>
            </a:pPr>
            <a:r>
              <a:t>Dual Threat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4787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A0C5"/>
                </a:solidFill>
                <a:latin typeface="Segoe UI"/>
              </a:defRPr>
            </a:pPr>
            <a:r>
              <a:t>Simultaneously detects weapons AND physical violence in a single pipeline.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43399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D38F"/>
                </a:solidFill>
                <a:latin typeface="Segoe UI"/>
              </a:defRPr>
            </a:pPr>
            <a:r>
              <a:t>Real-Time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1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A0C5"/>
                </a:solidFill>
                <a:latin typeface="Segoe UI"/>
              </a:defRPr>
            </a:pPr>
            <a:r>
              <a:t>Multi-threaded architecture separates frame capture from detection inference.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40679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949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D38F"/>
                </a:solidFill>
                <a:latin typeface="Segoe UI"/>
              </a:defRPr>
            </a:pPr>
            <a:r>
              <a:t>Cross-Platform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42431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A0C5"/>
                </a:solidFill>
                <a:latin typeface="Segoe UI"/>
              </a:defRPr>
            </a:pPr>
            <a:r>
              <a:t>Python-based; runs on Linux, Windows, and macOS.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14884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E3FF"/>
                </a:solidFill>
                <a:latin typeface="Segoe UI"/>
              </a:defRPr>
            </a:pPr>
            <a:r>
              <a:t>Scalable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45059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A0C5"/>
                </a:solidFill>
                <a:latin typeface="Segoe UI"/>
              </a:defRPr>
            </a:pPr>
            <a:r>
              <a:t>YOLOv8 supports easy retraining with new classes and custom datasets from Roboflow.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4612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E3FF"/>
                </a:solidFill>
                <a:latin typeface="Segoe UI"/>
              </a:defRPr>
            </a:pPr>
            <a:r>
              <a:t>Audible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54787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A0C5"/>
                </a:solidFill>
                <a:latin typeface="Segoe UI"/>
              </a:defRPr>
            </a:pPr>
            <a:r>
              <a:t>Automatic notification sounds when threats are detected — no visual monitoring needed.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343399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2976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E3FF"/>
                </a:solidFill>
                <a:latin typeface="Segoe UI"/>
              </a:defRPr>
            </a:pPr>
            <a:r>
              <a:t>Persistent 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645151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A0C5"/>
                </a:solidFill>
                <a:latin typeface="Segoe UI"/>
              </a:defRPr>
            </a:pPr>
            <a:r>
              <a:t>Every incident is saved with metadata, snapshot, and detection details for audits.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440679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3949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9E3FF"/>
                </a:solidFill>
                <a:latin typeface="Segoe UI"/>
              </a:defRPr>
            </a:pPr>
            <a:r>
              <a:t>Operator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742431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A0C5"/>
                </a:solidFill>
                <a:latin typeface="Segoe UI"/>
              </a:defRPr>
            </a:pPr>
            <a:r>
              <a:t>Adjustable confidence slider, start/stop detection, CRUD incident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System Flow — 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2011680" cy="1280160"/>
          </a:xfrm>
          <a:prstGeom prst="rect">
            <a:avLst/>
          </a:prstGeom>
          <a:solidFill>
            <a:srgbClr val="0A1224"/>
          </a:solidFill>
          <a:ln w="25400">
            <a:solidFill>
              <a:srgbClr val="49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9E3FF"/>
                </a:solidFill>
                <a:latin typeface="Courier New"/>
              </a:defRPr>
            </a:pPr>
            <a:r>
              <a:t>Android Phone</a:t>
            </a:r>
            <a:br/>
            <a:r>
              <a:t>IP Webcam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926080"/>
            <a:ext cx="2011680" cy="1280160"/>
          </a:xfrm>
          <a:prstGeom prst="rect">
            <a:avLst/>
          </a:prstGeom>
          <a:solidFill>
            <a:srgbClr val="0A1224"/>
          </a:solidFill>
          <a:ln w="25400">
            <a:solidFill>
              <a:srgbClr val="8DA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1546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DA0C5"/>
                </a:solidFill>
                <a:latin typeface="Courier New"/>
              </a:defRPr>
            </a:pPr>
            <a:r>
              <a:t>Video Stream</a:t>
            </a:r>
            <a:br/>
            <a:r>
              <a:t>HTTP /video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2926080"/>
            <a:ext cx="2011680" cy="1280160"/>
          </a:xfrm>
          <a:prstGeom prst="rect">
            <a:avLst/>
          </a:prstGeom>
          <a:solidFill>
            <a:srgbClr val="0A1224"/>
          </a:solidFill>
          <a:ln w="25400">
            <a:solidFill>
              <a:srgbClr val="FF4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1546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D7D"/>
                </a:solidFill>
                <a:latin typeface="Courier New"/>
              </a:defRPr>
            </a:pPr>
            <a:r>
              <a:t>StreamController</a:t>
            </a:r>
            <a:br/>
            <a:r>
              <a:t>Thread (cv2)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011680"/>
            <a:ext cx="2011680" cy="1280160"/>
          </a:xfrm>
          <a:prstGeom prst="rect">
            <a:avLst/>
          </a:prstGeom>
          <a:solidFill>
            <a:srgbClr val="0A1224"/>
          </a:solidFill>
          <a:ln w="25400">
            <a:solidFill>
              <a:srgbClr val="FF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A76"/>
                </a:solidFill>
                <a:latin typeface="Courier New"/>
              </a:defRPr>
            </a:pPr>
            <a:r>
              <a:t>Weapon Model</a:t>
            </a:r>
            <a:br/>
            <a:r>
              <a:t>YOLOv8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840480"/>
            <a:ext cx="2011680" cy="1280160"/>
          </a:xfrm>
          <a:prstGeom prst="rect">
            <a:avLst/>
          </a:prstGeom>
          <a:solidFill>
            <a:srgbClr val="0A1224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06908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9A825"/>
                </a:solidFill>
                <a:latin typeface="Courier New"/>
              </a:defRPr>
            </a:pPr>
            <a:r>
              <a:t>Fight Model</a:t>
            </a:r>
            <a:br/>
            <a:r>
              <a:t>YOLOv8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2926080"/>
            <a:ext cx="1828800" cy="1280160"/>
          </a:xfrm>
          <a:prstGeom prst="rect">
            <a:avLst/>
          </a:prstGeom>
          <a:solidFill>
            <a:srgbClr val="0A1224"/>
          </a:solidFill>
          <a:ln w="25400">
            <a:solidFill>
              <a:srgbClr val="14D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31546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D38F"/>
                </a:solidFill>
                <a:latin typeface="Courier New"/>
              </a:defRPr>
            </a:pPr>
            <a:r>
              <a:t>Dashboard</a:t>
            </a:r>
            <a:br/>
            <a:r>
              <a:t>Tkinter GUI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474720"/>
            <a:ext cx="457200" cy="38100"/>
          </a:xfrm>
          <a:prstGeom prst="rect">
            <a:avLst/>
          </a:prstGeom>
          <a:solidFill>
            <a:srgbClr val="8DA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3474720"/>
            <a:ext cx="457200" cy="381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3474720"/>
            <a:ext cx="457200" cy="381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84080" y="3474720"/>
            <a:ext cx="457200" cy="38100"/>
          </a:xfrm>
          <a:prstGeom prst="rect">
            <a:avLst/>
          </a:prstGeom>
          <a:solidFill>
            <a:srgbClr val="14D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3063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DA0C5"/>
                </a:solidFill>
                <a:latin typeface="Courier New"/>
              </a:defRPr>
            </a:pPr>
            <a:r>
              <a:t>HTTP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063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DA0C5"/>
                </a:solidFill>
                <a:latin typeface="Courier New"/>
              </a:defRPr>
            </a:pPr>
            <a:r>
              <a:t>cv2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063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DA0C5"/>
                </a:solidFill>
                <a:latin typeface="Courier New"/>
              </a:defRPr>
            </a:pPr>
            <a:r>
              <a:t>YOLO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063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DA0C5"/>
                </a:solidFill>
                <a:latin typeface="Courier New"/>
              </a:defRPr>
            </a:pPr>
            <a:r>
              <a:t>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8DA0C5"/>
                </a:solidFill>
                <a:latin typeface="Segoe UI"/>
              </a:defRPr>
            </a:pPr>
            <a:r>
              <a:t>Capture Thread continuously reads frames from the IP webcam video stream (cv2.VideoCapture).</a:t>
            </a:r>
          </a:p>
          <a:p>
            <a:pPr>
              <a:spcAft>
                <a:spcPts val="600"/>
              </a:spcAft>
              <a:defRPr sz="1300">
                <a:solidFill>
                  <a:srgbClr val="8DA0C5"/>
                </a:solidFill>
                <a:latin typeface="Segoe UI"/>
              </a:defRPr>
            </a:pPr>
            <a:r>
              <a:t>Detection Thread runs YOLOv8 inference on every N-th frame and stores bounding-box results.</a:t>
            </a:r>
          </a:p>
          <a:p>
            <a:pPr>
              <a:spcAft>
                <a:spcPts val="600"/>
              </a:spcAft>
              <a:defRPr sz="1300">
                <a:solidFill>
                  <a:srgbClr val="8DA0C5"/>
                </a:solidFill>
                <a:latin typeface="Segoe UI"/>
              </a:defRPr>
            </a:pPr>
            <a:r>
              <a:t>Main Thread (Tkinter) polls detections every 60ms, draws overlays, triggers alerts, and updates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System Flow — Detection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Frame Processing &amp; Alert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737360" cy="2743200"/>
          </a:xfrm>
          <a:prstGeom prst="rect">
            <a:avLst/>
          </a:prstGeom>
          <a:solidFill>
            <a:srgbClr val="0A1224"/>
          </a:solidFill>
          <a:ln w="25400">
            <a:solidFill>
              <a:srgbClr val="49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377440"/>
            <a:ext cx="457200" cy="4572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40817"/>
                </a:solidFill>
                <a:latin typeface="Courier New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9E3FF"/>
                </a:solidFill>
                <a:latin typeface="Segoe UI"/>
              </a:defRPr>
            </a:pPr>
            <a:r>
              <a:t>Frame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capture_latest_frames()</a:t>
            </a:r>
            <a:br/>
            <a:r>
              <a:t>Reads latest frame from</a:t>
            </a:r>
            <a:br/>
            <a:r>
              <a:t>cv2.VideoCapture buffer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3474720"/>
            <a:ext cx="182880" cy="381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2194560"/>
            <a:ext cx="1737360" cy="2743200"/>
          </a:xfrm>
          <a:prstGeom prst="rect">
            <a:avLst/>
          </a:prstGeom>
          <a:solidFill>
            <a:srgbClr val="0A1224"/>
          </a:solidFill>
          <a:ln w="25400">
            <a:solidFill>
              <a:srgbClr val="8DA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2377440"/>
            <a:ext cx="457200" cy="457200"/>
          </a:xfrm>
          <a:prstGeom prst="rect">
            <a:avLst/>
          </a:prstGeom>
          <a:solidFill>
            <a:srgbClr val="8DA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40817"/>
                </a:solidFill>
                <a:latin typeface="Courier New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DA0C5"/>
                </a:solidFill>
                <a:latin typeface="Segoe UI"/>
              </a:defRPr>
            </a:pPr>
            <a:r>
              <a:t>Frame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337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Resize to inference size</a:t>
            </a:r>
            <a:br/>
            <a:r>
              <a:t>(imgsz=416) to balance</a:t>
            </a:r>
            <a:br/>
            <a:r>
              <a:t>speed vs.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474720"/>
            <a:ext cx="182880" cy="381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194560"/>
            <a:ext cx="1737360" cy="2743200"/>
          </a:xfrm>
          <a:prstGeom prst="rect">
            <a:avLst/>
          </a:prstGeom>
          <a:solidFill>
            <a:srgbClr val="0A1224"/>
          </a:solidFill>
          <a:ln w="25400">
            <a:solidFill>
              <a:srgbClr val="FF4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40817"/>
                </a:solidFill>
                <a:latin typeface="Courier New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D7D"/>
                </a:solidFill>
                <a:latin typeface="Segoe UI"/>
              </a:defRPr>
            </a:pPr>
            <a:r>
              <a:t>YOLO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337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detector.predict()</a:t>
            </a:r>
            <a:br/>
            <a:r>
              <a:t>Runs weapon + fight</a:t>
            </a:r>
            <a:br/>
            <a:r>
              <a:t>models on scaled frame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474720"/>
            <a:ext cx="182880" cy="381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194560"/>
            <a:ext cx="1737360" cy="2743200"/>
          </a:xfrm>
          <a:prstGeom prst="rect">
            <a:avLst/>
          </a:prstGeom>
          <a:solidFill>
            <a:srgbClr val="0A1224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2377440"/>
            <a:ext cx="457200" cy="457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40817"/>
                </a:solidFill>
                <a:latin typeface="Courier New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9A825"/>
                </a:solidFill>
                <a:latin typeface="Segoe UI"/>
              </a:defRPr>
            </a:pPr>
            <a:r>
              <a:t>Box 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337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Scale bounding boxes</a:t>
            </a:r>
            <a:br/>
            <a:r>
              <a:t>back to original frame</a:t>
            </a:r>
            <a:br/>
            <a:r>
              <a:t>resolution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474720"/>
            <a:ext cx="182880" cy="381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194560"/>
            <a:ext cx="1737360" cy="2743200"/>
          </a:xfrm>
          <a:prstGeom prst="rect">
            <a:avLst/>
          </a:prstGeom>
          <a:solidFill>
            <a:srgbClr val="0A1224"/>
          </a:solidFill>
          <a:ln w="25400">
            <a:solidFill>
              <a:srgbClr val="FF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78240" y="2377440"/>
            <a:ext cx="457200" cy="457200"/>
          </a:xfrm>
          <a:prstGeom prst="rect">
            <a:avLst/>
          </a:prstGeom>
          <a:solidFill>
            <a:srgbClr val="FF5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40817"/>
                </a:solidFill>
                <a:latin typeface="Courier New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A76"/>
                </a:solidFill>
                <a:latin typeface="Segoe UI"/>
              </a:defRPr>
            </a:pPr>
            <a:r>
              <a:t>Alert Trigger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337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Save snapshot to image_data/</a:t>
            </a:r>
            <a:br/>
            <a:r>
              <a:t>Play notification sound</a:t>
            </a:r>
            <a:br/>
            <a:r>
              <a:t>Create JSON metadata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3474720"/>
            <a:ext cx="182880" cy="381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8400" y="2194560"/>
            <a:ext cx="1737360" cy="2743200"/>
          </a:xfrm>
          <a:prstGeom prst="rect">
            <a:avLst/>
          </a:prstGeom>
          <a:solidFill>
            <a:srgbClr val="0A1224"/>
          </a:solidFill>
          <a:ln w="25400">
            <a:solidFill>
              <a:srgbClr val="14D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98480" y="2377440"/>
            <a:ext cx="457200" cy="457200"/>
          </a:xfrm>
          <a:prstGeom prst="rect">
            <a:avLst/>
          </a:prstGeom>
          <a:solidFill>
            <a:srgbClr val="14D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40817"/>
                </a:solidFill>
                <a:latin typeface="Courier New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2971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D38F"/>
                </a:solidFill>
                <a:latin typeface="Segoe UI"/>
              </a:defRPr>
            </a:pPr>
            <a:r>
              <a:t>Dashboard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33375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DA0C5"/>
                </a:solidFill>
                <a:latin typeface="Segoe UI"/>
              </a:defRPr>
            </a:pPr>
            <a:r>
              <a:t>Draw bounding boxes</a:t>
            </a:r>
            <a:br/>
            <a:r>
              <a:t>Refresh incident list</a:t>
            </a:r>
            <a:br/>
            <a:r>
              <a:t>Update status footer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8DA0C5"/>
                </a:solidFill>
                <a:latin typeface="Segoe UI"/>
              </a:defRPr>
            </a:pPr>
            <a:r>
              <a:t>Cooldown mechanism prevents alert flooding — configurable --alert-cooldown (default 3 seconds).</a:t>
            </a:r>
          </a:p>
          <a:p>
            <a:pPr>
              <a:spcAft>
                <a:spcPts val="600"/>
              </a:spcAft>
              <a:defRPr sz="1300">
                <a:solidFill>
                  <a:srgbClr val="8DA0C5"/>
                </a:solidFill>
                <a:latin typeface="Segoe UI"/>
              </a:defRPr>
            </a:pPr>
            <a:r>
              <a:t>Status auto-classified: verified (&gt;=85%), pending (&gt;=60%), false_positive (&lt;60%).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Data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JSON File-Based Persistence + Optional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solidFill>
            <a:srgbClr val="0A1224"/>
          </a:solidFill>
          <a:ln w="25400">
            <a:solidFill>
              <a:srgbClr val="49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9E3FF"/>
                </a:solidFill>
                <a:latin typeface="Courier New"/>
              </a:defRPr>
            </a:pPr>
            <a:r>
              <a:t>Primary: JSON File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Directory: image_data/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Each detection saved as paired files: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- .jpg snapshot image of the frame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- .json metadata file with incident details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JSON fields: id, created_at, categories, labels,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confidence, image_path, status, notes, location,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detections[] (category, label, confidence, box[])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DetectionHistoryRepository class handles all CRUD.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Records sorted by created_at (newest first).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solidFill>
            <a:srgbClr val="0A1224"/>
          </a:solidFill>
          <a:ln w="25400">
            <a:solidFill>
              <a:srgbClr val="14D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D38F"/>
                </a:solidFill>
                <a:latin typeface="Courier New"/>
              </a:defRPr>
            </a:pPr>
            <a:r>
              <a:t>Optional: PostgreSQL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psycopg3 adapter (psycopg[binary]&gt;=3.1.0)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Connection params in training_model.py: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host: localhost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dbname: detection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user: postgres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port: 5432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Used for centralized storage in multi-node setups.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--database-url CLI flag for connection string.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Currently JSON storage is the active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Implementation —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Languages, Frameworks &amp;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00" cy="9144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9E3FF"/>
                </a:solidFill>
                <a:latin typeface="Courier New"/>
              </a:defRPr>
            </a:pPr>
            <a:r>
              <a:t>Python 3.12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A0C5"/>
                </a:solidFill>
                <a:latin typeface="Segoe UI"/>
              </a:defRPr>
            </a:pPr>
            <a:r>
              <a:t>Core language for entire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486400" cy="9144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7D"/>
                </a:solidFill>
                <a:latin typeface="Courier New"/>
              </a:defRPr>
            </a:pPr>
            <a:r>
              <a:t>YOLOv8 (Ultralytics)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A0C5"/>
                </a:solidFill>
                <a:latin typeface="Segoe UI"/>
              </a:defRPr>
            </a:pPr>
            <a:r>
              <a:t>Object detection — weapon &amp; fight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08960"/>
            <a:ext cx="5486400" cy="9144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A825"/>
                </a:solidFill>
                <a:latin typeface="Courier New"/>
              </a:defRPr>
            </a:pPr>
            <a:r>
              <a:t>OpenCV (cv2)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A0C5"/>
                </a:solidFill>
                <a:latin typeface="Segoe UI"/>
              </a:defRPr>
            </a:pPr>
            <a:r>
              <a:t>Video capture, frame processing, image I/O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08960"/>
            <a:ext cx="5486400" cy="9144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D38F"/>
                </a:solidFill>
                <a:latin typeface="Courier New"/>
              </a:defRPr>
            </a:pPr>
            <a:r>
              <a:t>Tkinter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A0C5"/>
                </a:solidFill>
                <a:latin typeface="Segoe UI"/>
              </a:defRPr>
            </a:pPr>
            <a:r>
              <a:t>Desktop GUI dashboard (dual-panel layout)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06240"/>
            <a:ext cx="5486400" cy="9144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29768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DA0C5"/>
                </a:solidFill>
                <a:latin typeface="Courier New"/>
              </a:defRPr>
            </a:pPr>
            <a:r>
              <a:t>Roboflow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A0C5"/>
                </a:solidFill>
                <a:latin typeface="Segoe UI"/>
              </a:defRPr>
            </a:pPr>
            <a:r>
              <a:t>Dataset hosting &amp; custom model training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206240"/>
            <a:ext cx="5486400" cy="9144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29768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0D0FF"/>
                </a:solidFill>
                <a:latin typeface="Courier New"/>
              </a:defRPr>
            </a:pPr>
            <a:r>
              <a:t>PostgreSQL (psycopg3)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A0C5"/>
                </a:solidFill>
                <a:latin typeface="Segoe UI"/>
              </a:defRPr>
            </a:pPr>
            <a:r>
              <a:t>Optional centralized detection 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03520"/>
            <a:ext cx="5486400" cy="9144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39496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F7FF"/>
                </a:solidFill>
                <a:latin typeface="Courier New"/>
              </a:defRPr>
            </a:pPr>
            <a:r>
              <a:t>JSON + Filesystem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760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A0C5"/>
                </a:solidFill>
                <a:latin typeface="Segoe UI"/>
              </a:defRPr>
            </a:pPr>
            <a:r>
              <a:t>Primary persistent storage for incidents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303520"/>
            <a:ext cx="5486400" cy="9144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5394960"/>
            <a:ext cx="635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7D"/>
                </a:solidFill>
                <a:latin typeface="Courier New"/>
              </a:defRPr>
            </a:pPr>
            <a:r>
              <a:t>Android IP Webcam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760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DA0C5"/>
                </a:solidFill>
                <a:latin typeface="Segoe UI"/>
              </a:defRPr>
            </a:pPr>
            <a:r>
              <a:t>Wi-Fi camera source via HTTP video stream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Implementation — Code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Key Classes &amp; Modules in main.py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solidFill>
            <a:srgbClr val="0A1224"/>
          </a:solidFill>
          <a:ln w="12700">
            <a:solidFill>
              <a:srgbClr val="49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E3FF"/>
                </a:solidFill>
                <a:latin typeface="Courier New"/>
              </a:defRPr>
            </a:pPr>
            <a:r>
              <a:t>ModelConfig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7FF"/>
                </a:solidFill>
                <a:latin typeface="Segoe UI"/>
              </a:defRPr>
            </a:pPr>
            <a:r>
              <a:t>Dataclass: model name, path, labels, enabled flag, color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0048"/>
            <a:ext cx="2560320" cy="548640"/>
          </a:xfrm>
          <a:prstGeom prst="rect">
            <a:avLst/>
          </a:prstGeom>
          <a:solidFill>
            <a:srgbClr val="0A1224"/>
          </a:solidFill>
          <a:ln w="12700">
            <a:solidFill>
              <a:srgbClr val="FF4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61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7D"/>
                </a:solidFill>
                <a:latin typeface="Courier New"/>
              </a:defRPr>
            </a:pPr>
            <a:r>
              <a:t>AppConfig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614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7FF"/>
                </a:solidFill>
                <a:latin typeface="Segoe UI"/>
              </a:defRPr>
            </a:pPr>
            <a:r>
              <a:t>Dataclass: confidence, alert settings, imgsz, stream dims, models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28416"/>
            <a:ext cx="2560320" cy="548640"/>
          </a:xfrm>
          <a:prstGeom prst="rect">
            <a:avLst/>
          </a:prstGeom>
          <a:solidFill>
            <a:srgbClr val="0A1224"/>
          </a:solidFill>
          <a:ln w="12700">
            <a:solidFill>
              <a:srgbClr val="49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98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E3FF"/>
                </a:solidFill>
                <a:latin typeface="Courier New"/>
              </a:defRPr>
            </a:pPr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198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7FF"/>
                </a:solidFill>
                <a:latin typeface="Segoe UI"/>
              </a:defRPr>
            </a:pPr>
            <a:r>
              <a:t>Dataclass: category, label, confidence, color, bounding 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86784"/>
            <a:ext cx="2560320" cy="548640"/>
          </a:xfrm>
          <a:prstGeom prst="rect">
            <a:avLst/>
          </a:prstGeom>
          <a:solidFill>
            <a:srgbClr val="0A1224"/>
          </a:solidFill>
          <a:ln w="12700">
            <a:solidFill>
              <a:srgbClr val="FF4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782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7D"/>
                </a:solidFill>
                <a:latin typeface="Courier New"/>
              </a:defRPr>
            </a:pPr>
            <a:r>
              <a:t>DetectionRecord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782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7FF"/>
                </a:solidFill>
                <a:latin typeface="Segoe UI"/>
              </a:defRPr>
            </a:pPr>
            <a:r>
              <a:t>Dataclass: id, timestamp, categories, labels, status, notes, 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45152"/>
            <a:ext cx="2560320" cy="548640"/>
          </a:xfrm>
          <a:prstGeom prst="rect">
            <a:avLst/>
          </a:prstGeom>
          <a:solidFill>
            <a:srgbClr val="0A1224"/>
          </a:solidFill>
          <a:ln w="12700">
            <a:solidFill>
              <a:srgbClr val="49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36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E3FF"/>
                </a:solidFill>
                <a:latin typeface="Courier New"/>
              </a:defRPr>
            </a:pPr>
            <a:r>
              <a:t>StreamController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7365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7FF"/>
                </a:solidFill>
                <a:latin typeface="Segoe UI"/>
              </a:defRPr>
            </a:pPr>
            <a:r>
              <a:t>Threaded camera manager: capture + detection threads, SharedFrame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03520"/>
            <a:ext cx="2560320" cy="548640"/>
          </a:xfrm>
          <a:prstGeom prst="rect">
            <a:avLst/>
          </a:prstGeom>
          <a:solidFill>
            <a:srgbClr val="0A1224"/>
          </a:solidFill>
          <a:ln w="12700">
            <a:solidFill>
              <a:srgbClr val="FF4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7D"/>
                </a:solidFill>
                <a:latin typeface="Courier New"/>
              </a:defRPr>
            </a:pPr>
            <a:r>
              <a:t>DashboardApp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7FF"/>
                </a:solidFill>
                <a:latin typeface="Segoe UI"/>
              </a:defRPr>
            </a:pPr>
            <a:r>
              <a:t>Tkinter GUI: live stream canvas, incident history panel, controls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961888"/>
            <a:ext cx="2560320" cy="548640"/>
          </a:xfrm>
          <a:prstGeom prst="rect">
            <a:avLst/>
          </a:prstGeom>
          <a:solidFill>
            <a:srgbClr val="0A1224"/>
          </a:solidFill>
          <a:ln w="12700">
            <a:solidFill>
              <a:srgbClr val="49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9E3FF"/>
                </a:solidFill>
                <a:latin typeface="Courier New"/>
              </a:defRPr>
            </a:pPr>
            <a:r>
              <a:t>DetectionHistoryRepository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60533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7FF"/>
                </a:solidFill>
                <a:latin typeface="Segoe UI"/>
              </a:defRPr>
            </a:pPr>
            <a:r>
              <a:t>CRUD for JSON-based incident storage in image_data/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Implementation —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YOLOv8 Custom Training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solidFill>
            <a:srgbClr val="0A1224"/>
          </a:solidFill>
          <a:ln w="25400">
            <a:solidFill>
              <a:srgbClr val="FF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A76"/>
                </a:solidFill>
                <a:latin typeface="Courier New"/>
              </a:defRPr>
            </a:pPr>
            <a:r>
              <a:t>Weapon Detection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Dataset: Roboflow - weapon-detection-f1lih-i39ne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Classes (nc=5): Grenade, Knife, Missile, Pistol, Rifle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Base model: yolov8n.pt (pre-trained on COCO)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Training: yolo task=detect model=yolov8n.pt \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data=data.yaml epochs=20 imgsz=640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Output: runs/detect/train/weights/best.pt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License: CC BY 4.0 (Roboflow)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solidFill>
            <a:srgbClr val="0A1224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A825"/>
                </a:solidFill>
                <a:latin typeface="Courier New"/>
              </a:defRPr>
            </a:pPr>
            <a:r>
              <a:t>Fight Detection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Dataset: Roboflow - fight-detection-cdebd-det6d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Classes (nc=2): fight, non-fight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Base model: yolov8n.pt (pre-trained on COCO)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Training: yolo task=detect model=yolov8n.pt \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  data=data.yaml epochs=20 imgsz=640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Output: runs/detect/train-1/weights/best.pt</a:t>
            </a:r>
          </a:p>
          <a:p>
            <a:pPr>
              <a:spcAft>
                <a:spcPts val="400"/>
              </a:spcAft>
              <a:defRPr sz="1200">
                <a:solidFill>
                  <a:srgbClr val="F4F7FF"/>
                </a:solidFill>
                <a:latin typeface="Segoe UI"/>
              </a:defRPr>
            </a:pPr>
            <a:r>
              <a:t>License: CC BY 4.0 (Roboflow)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Implementation — Dashboard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Tkinter GUI Layout &amp;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solidFill>
            <a:srgbClr val="09101F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F7FF"/>
                </a:solidFill>
                <a:latin typeface="Segoe UI"/>
              </a:defRPr>
            </a:pPr>
            <a:r>
              <a:t>Weapon and Violence Detection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4D7D"/>
                </a:solidFill>
                <a:latin typeface="Courier New"/>
              </a:defRPr>
            </a:pPr>
            <a:r>
              <a:t>CONFIDENCE: [====] 85%   [Stop Detection]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5212080" cy="3291840"/>
          </a:xfrm>
          <a:prstGeom prst="rect">
            <a:avLst/>
          </a:prstGeom>
          <a:solidFill>
            <a:srgbClr val="040812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F7FF"/>
                </a:solidFill>
                <a:latin typeface="Courier New"/>
              </a:defRPr>
            </a:pPr>
            <a:r>
              <a:t>LIVE STREAM FEED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9E3FF"/>
                </a:solidFill>
                <a:latin typeface="Courier New"/>
              </a:defRPr>
            </a:pPr>
            <a:r>
              <a:t>Active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63240"/>
            <a:ext cx="2286000" cy="457200"/>
          </a:xfrm>
          <a:prstGeom prst="rect">
            <a:avLst/>
          </a:prstGeom>
          <a:solidFill>
            <a:srgbClr val="5B11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906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4D7D"/>
                </a:solidFill>
                <a:latin typeface="Courier New"/>
              </a:defRPr>
            </a:pPr>
            <a:r>
              <a:t>PIPELINE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461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DA0C5"/>
                </a:solidFill>
                <a:latin typeface="Courier New"/>
              </a:defRPr>
            </a:pPr>
            <a:r>
              <a:t>Evaluating frames...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474720"/>
            <a:ext cx="1371600" cy="1828800"/>
          </a:xfrm>
          <a:prstGeom prst="rect">
            <a:avLst/>
          </a:prstGeom>
          <a:solidFill>
            <a:srgbClr val="FF5A76"/>
          </a:solidFill>
          <a:ln w="25400">
            <a:solidFill>
              <a:srgbClr val="FF5A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114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4F7FF"/>
                </a:solidFill>
                <a:latin typeface="Courier New"/>
              </a:defRPr>
            </a:pPr>
            <a:r>
              <a:t>Knife 51%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486400"/>
            <a:ext cx="4846320" cy="76200"/>
          </a:xfrm>
          <a:prstGeom prst="rect">
            <a:avLst/>
          </a:prstGeom>
          <a:solidFill>
            <a:srgbClr val="24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486400"/>
            <a:ext cx="2743200" cy="762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651760"/>
            <a:ext cx="5486400" cy="3291840"/>
          </a:xfrm>
          <a:prstGeom prst="rect">
            <a:avLst/>
          </a:prstGeom>
          <a:solidFill>
            <a:srgbClr val="0A1224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4F7FF"/>
                </a:solidFill>
                <a:latin typeface="Segoe UI"/>
              </a:defRPr>
            </a:pPr>
            <a:r>
              <a:t>DETECTION INCIDENT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9E3FF"/>
                </a:solidFill>
                <a:latin typeface="Segoe UI"/>
              </a:defRPr>
            </a:pPr>
            <a:r>
              <a:t>+ New incident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108960"/>
            <a:ext cx="5303520" cy="685800"/>
          </a:xfrm>
          <a:prstGeom prst="rect">
            <a:avLst/>
          </a:prstGeom>
          <a:solidFill>
            <a:srgbClr val="09101F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108960"/>
            <a:ext cx="5080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1821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F7FF"/>
                </a:solidFill>
                <a:latin typeface="Segoe UI"/>
              </a:defRPr>
            </a:pPr>
            <a:r>
              <a:t>Knife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DA0C5"/>
                </a:solidFill>
                <a:latin typeface="Courier New"/>
              </a:defRPr>
            </a:pPr>
            <a:r>
              <a:t>2026-07-16 10:58:23 | TRK-1784176103645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246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A76"/>
                </a:solidFill>
                <a:latin typeface="Courier New"/>
              </a:defRPr>
            </a:pPr>
            <a:r>
              <a:t>51%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9A825"/>
                </a:solidFill>
                <a:latin typeface="Courier New"/>
              </a:defRPr>
            </a:pPr>
            <a:r>
              <a:t>PENDING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886200"/>
            <a:ext cx="5303520" cy="685800"/>
          </a:xfrm>
          <a:prstGeom prst="rect">
            <a:avLst/>
          </a:prstGeom>
          <a:solidFill>
            <a:srgbClr val="09101F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886200"/>
            <a:ext cx="50800" cy="685800"/>
          </a:xfrm>
          <a:prstGeom prst="rect">
            <a:avLst/>
          </a:prstGeom>
          <a:solidFill>
            <a:srgbClr val="14D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F7FF"/>
                </a:solidFill>
                <a:latin typeface="Segoe UI"/>
              </a:defRPr>
            </a:pPr>
            <a:r>
              <a:t>Knife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DA0C5"/>
                </a:solidFill>
                <a:latin typeface="Courier New"/>
              </a:defRPr>
            </a:pPr>
            <a:r>
              <a:t>2026-07-16 10:58:23 | TRK-1784176103644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A76"/>
                </a:solidFill>
                <a:latin typeface="Courier New"/>
              </a:defRPr>
            </a:pPr>
            <a:r>
              <a:t>67%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4D38F"/>
                </a:solidFill>
                <a:latin typeface="Courier New"/>
              </a:defRPr>
            </a:pPr>
            <a:r>
              <a:t>VERIFIED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663440"/>
            <a:ext cx="5303520" cy="685800"/>
          </a:xfrm>
          <a:prstGeom prst="rect">
            <a:avLst/>
          </a:prstGeom>
          <a:solidFill>
            <a:srgbClr val="09101F"/>
          </a:solidFill>
          <a:ln w="12700">
            <a:solidFill>
              <a:srgbClr val="1D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663440"/>
            <a:ext cx="50800" cy="685800"/>
          </a:xfrm>
          <a:prstGeom prst="rect">
            <a:avLst/>
          </a:prstGeom>
          <a:solidFill>
            <a:srgbClr val="14D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7365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F7FF"/>
                </a:solidFill>
                <a:latin typeface="Segoe UI"/>
              </a:defRPr>
            </a:pPr>
            <a:r>
              <a:t>Weapon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DA0C5"/>
                </a:solidFill>
                <a:latin typeface="Courier New"/>
              </a:defRPr>
            </a:pPr>
            <a:r>
              <a:t>2026-07-16 10:58:23 | TRK-1784176103643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A76"/>
                </a:solidFill>
                <a:latin typeface="Courier New"/>
              </a:defRPr>
            </a:pPr>
            <a:r>
              <a:t>84%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4D38F"/>
                </a:solidFill>
                <a:latin typeface="Courier New"/>
              </a:defRPr>
            </a:pPr>
            <a:r>
              <a:t>VERIFIED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76200" cy="73152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4F7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9E3FF"/>
                </a:solidFill>
                <a:latin typeface="Courier New"/>
              </a:defRPr>
            </a:pPr>
            <a:r>
              <a:t>Summary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881360" cy="25400"/>
          </a:xfrm>
          <a:prstGeom prst="rect">
            <a:avLst/>
          </a:prstGeom>
          <a:solidFill>
            <a:srgbClr val="1D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9E3FF"/>
                </a:solidFill>
                <a:latin typeface="Courier New"/>
              </a:defRPr>
            </a:pPr>
            <a: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Successfully built a real-time dual-threat detection system (weapon + violence) using YOLOv8 and IP webcam.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Achieved low-cost deployment by repurposing Android phones as network cameras via the IP Webcam app.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Developed a professional Tkinter dashboard with live stream, confidence controls, and incident management.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Implemented persistent JSON-based logging for every detection event with snapshot and metadata.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7D"/>
                </a:solidFill>
                <a:latin typeface="Courier New"/>
              </a:defRPr>
            </a:pPr>
            <a: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Integrate cloud push notifications (Firebase / Telegram bot) for remote alert delivery.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Migrate to PostgreSQL for scalable multi-camera enterprise deployment.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Add person re-identification and tracking across multiple camera feeds.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Deploy a lightweight edge version using TensorRT ONNX optimization for embedded devices.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Segoe UI"/>
              </a:defRPr>
            </a:pPr>
            <a:r>
              <a:t>Expand training datasets for improved accuracy in varied lighting and environmental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49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635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94960" y="1828800"/>
            <a:ext cx="101600" cy="1828800"/>
          </a:xfrm>
          <a:prstGeom prst="rect">
            <a:avLst/>
          </a:prstGeom>
          <a:solidFill>
            <a:srgbClr val="FF4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4F7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9E3FF"/>
                </a:solidFill>
                <a:latin typeface="Courier New"/>
              </a:defRPr>
            </a:pPr>
            <a:r>
              <a:t>AEGIS — Real-Time Weapon &amp; Violence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D7D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DA0C5"/>
                </a:solidFill>
                <a:latin typeface="Courier New"/>
              </a:defRPr>
            </a:pPr>
            <a:r>
              <a:t>Built with Python  |  YOLOv8  |  OpenCV  |  Tkinter  |  IP Webcam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